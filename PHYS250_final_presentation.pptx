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83075AF-AE2C-468B-99A0-53C1319C9D43}">
  <a:tblStyle styleId="{983075AF-AE2C-468B-99A0-53C1319C9D4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1f22320a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1f22320a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1f22320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1f22320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1f22320a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1f22320a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1f22320a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1f22320a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1f22320a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e1f22320a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1f22320a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1f22320a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1f22320a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1f22320a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1f22320a2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1f22320a2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e1f22320a2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e1f22320a2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1f22320a2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1f22320a2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e1f22320a2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e1f22320a2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1f22320a2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1f22320a2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1f22320a2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1f22320a2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980"/>
              <a:t>Quantum Machine Learning Methods for Semiconductor Wafer Defect Classification</a:t>
            </a:r>
            <a:endParaRPr sz="39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41082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exploration for PHYS 250 </a:t>
            </a:r>
            <a:r>
              <a:rPr lang="en"/>
              <a:t>by </a:t>
            </a:r>
            <a:r>
              <a:rPr lang="en"/>
              <a:t>Stephen Reagin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and Motivation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Quantum machine learning (QML) is an emerging field seeking to improve upon classical machine learning by leveraging the properties of quantum computers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 key motivation is that a quantum system of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qubits can process information in a Hilbert space of dimension 2</a:t>
            </a:r>
            <a:r>
              <a:rPr baseline="30000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, which grows exponentially with qubit count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Quantum </a:t>
            </a:r>
            <a:r>
              <a:rPr i="1" lang="en">
                <a:solidFill>
                  <a:schemeClr val="dk1"/>
                </a:solidFill>
              </a:rPr>
              <a:t>feature maps</a:t>
            </a:r>
            <a:r>
              <a:rPr lang="en">
                <a:solidFill>
                  <a:schemeClr val="dk1"/>
                </a:solidFill>
              </a:rPr>
              <a:t> encode classical data into this high-dimensional space, capturing complex patterns via feature interactions that are classically intractable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13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Quantum Machine Learning</a:t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428250" y="4830225"/>
            <a:ext cx="3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Images generated via ChatGPT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 rotWithShape="1">
          <a:blip r:embed="rId3">
            <a:alphaModFix/>
          </a:blip>
          <a:srcRect b="3508" l="0" r="0" t="16022"/>
          <a:stretch/>
        </p:blipFill>
        <p:spPr>
          <a:xfrm>
            <a:off x="552900" y="572700"/>
            <a:ext cx="8038188" cy="4312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Vector Machines and Kernel Tricks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3440400" cy="8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Support Vector Machines (SVM): classification boundaries are drawn as hyperplanes supported by vectors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311700" y="4420350"/>
            <a:ext cx="34404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Figure 1: </a:t>
            </a:r>
            <a:r>
              <a:rPr lang="en" sz="800">
                <a:solidFill>
                  <a:schemeClr val="dk2"/>
                </a:solidFill>
              </a:rPr>
              <a:t>Kumar, Sanjay &amp; Kumar, Nikhil &amp; Dev, Aditya &amp; Naorem, Siraz. (2022). Movie genre classification using binary relevance, label powerset, and machine learning classifiers. Multimedia Tools and Applications. 82. 1-24. 10.1007/s11042-022-13211-5. 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701" y="2069313"/>
            <a:ext cx="2456872" cy="23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/>
        </p:nvSpPr>
        <p:spPr>
          <a:xfrm>
            <a:off x="4635400" y="1152475"/>
            <a:ext cx="38850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</a:rPr>
              <a:t>Using the </a:t>
            </a:r>
            <a:r>
              <a:rPr i="1" lang="en" sz="1300">
                <a:solidFill>
                  <a:schemeClr val="dk1"/>
                </a:solidFill>
              </a:rPr>
              <a:t>kernel trick,</a:t>
            </a:r>
            <a:r>
              <a:rPr lang="en" sz="1300">
                <a:solidFill>
                  <a:schemeClr val="dk1"/>
                </a:solidFill>
              </a:rPr>
              <a:t> finding the inner product between data points in the feature space enables these nonlinear boundaries to be found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400" y="3609424"/>
            <a:ext cx="3651074" cy="95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9438" y="1822625"/>
            <a:ext cx="4483000" cy="178679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6"/>
          <p:cNvSpPr txBox="1"/>
          <p:nvPr/>
        </p:nvSpPr>
        <p:spPr>
          <a:xfrm>
            <a:off x="4419425" y="4568875"/>
            <a:ext cx="4413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Figure 2: Grace Zhang. What is the kernel trick? Why is it important? https://medium.com/@zxr.nju/what-is-the-kernel-trick-why-is-it-important-98a98db0961d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SVM Limitations and Quantum Kernels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477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</a:t>
            </a:r>
            <a:r>
              <a:rPr lang="en">
                <a:solidFill>
                  <a:schemeClr val="dk1"/>
                </a:solidFill>
              </a:rPr>
              <a:t>omputing a </a:t>
            </a:r>
            <a:r>
              <a:rPr lang="en">
                <a:solidFill>
                  <a:schemeClr val="dk1"/>
                </a:solidFill>
              </a:rPr>
              <a:t>classical</a:t>
            </a:r>
            <a:r>
              <a:rPr lang="en">
                <a:solidFill>
                  <a:schemeClr val="dk1"/>
                </a:solidFill>
              </a:rPr>
              <a:t> kernel matrix over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samples requires O(n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r>
              <a:rPr lang="en">
                <a:solidFill>
                  <a:schemeClr val="dk1"/>
                </a:solidFill>
              </a:rPr>
              <a:t>) evaluations, which becomes a bottleneck for large datasets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QML approach replaces classical kernels with a quantum kernel: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K(x</a:t>
            </a:r>
            <a:r>
              <a:rPr baseline="-25000"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,x</a:t>
            </a:r>
            <a:r>
              <a:rPr baseline="-25000" lang="en">
                <a:solidFill>
                  <a:schemeClr val="dk1"/>
                </a:solidFill>
              </a:rPr>
              <a:t>j</a:t>
            </a:r>
            <a:r>
              <a:rPr lang="en">
                <a:solidFill>
                  <a:schemeClr val="dk1"/>
                </a:solidFill>
              </a:rPr>
              <a:t>) = |⟨ϕ(x</a:t>
            </a:r>
            <a:r>
              <a:rPr baseline="-25000" lang="en">
                <a:solidFill>
                  <a:schemeClr val="dk1"/>
                </a:solidFill>
              </a:rPr>
              <a:t>i</a:t>
            </a:r>
            <a:r>
              <a:rPr lang="en">
                <a:solidFill>
                  <a:schemeClr val="dk1"/>
                </a:solidFill>
              </a:rPr>
              <a:t>)|ϕ(x</a:t>
            </a:r>
            <a:r>
              <a:rPr baseline="-25000" lang="en">
                <a:solidFill>
                  <a:schemeClr val="dk1"/>
                </a:solidFill>
              </a:rPr>
              <a:t>j</a:t>
            </a:r>
            <a:r>
              <a:rPr lang="en">
                <a:solidFill>
                  <a:schemeClr val="dk1"/>
                </a:solidFill>
              </a:rPr>
              <a:t>)⟩|</a:t>
            </a:r>
            <a:r>
              <a:rPr baseline="30000" lang="en">
                <a:solidFill>
                  <a:schemeClr val="dk1"/>
                </a:solidFill>
              </a:rPr>
              <a:t>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where |ϕ(x)⟩is the quantum state produced by a parametrized feature map circuit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descr="quantum-model" id="87" name="Google Shape;87;p17"/>
          <p:cNvPicPr preferRelativeResize="0"/>
          <p:nvPr/>
        </p:nvPicPr>
        <p:blipFill rotWithShape="1">
          <a:blip r:embed="rId3">
            <a:alphaModFix/>
          </a:blip>
          <a:srcRect b="0" l="0" r="54124" t="0"/>
          <a:stretch/>
        </p:blipFill>
        <p:spPr>
          <a:xfrm>
            <a:off x="5206025" y="1152475"/>
            <a:ext cx="3705199" cy="1440119"/>
          </a:xfrm>
          <a:prstGeom prst="rect">
            <a:avLst/>
          </a:prstGeom>
          <a:noFill/>
          <a:ln cap="flat" cmpd="sng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descr="quantum-model" id="88" name="Google Shape;88;p17"/>
          <p:cNvPicPr preferRelativeResize="0"/>
          <p:nvPr/>
        </p:nvPicPr>
        <p:blipFill rotWithShape="1">
          <a:blip r:embed="rId3">
            <a:alphaModFix/>
          </a:blip>
          <a:srcRect b="31456" l="47222" r="44761" t="39900"/>
          <a:stretch/>
        </p:blipFill>
        <p:spPr>
          <a:xfrm>
            <a:off x="5206025" y="2592600"/>
            <a:ext cx="675799" cy="412500"/>
          </a:xfrm>
          <a:prstGeom prst="rect">
            <a:avLst/>
          </a:prstGeom>
          <a:noFill/>
          <a:ln cap="flat" cmpd="sng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descr="quantum-model" id="89" name="Google Shape;89;p17"/>
          <p:cNvPicPr preferRelativeResize="0"/>
          <p:nvPr/>
        </p:nvPicPr>
        <p:blipFill rotWithShape="1">
          <a:blip r:embed="rId3">
            <a:alphaModFix/>
          </a:blip>
          <a:srcRect b="0" l="56142" r="0" t="0"/>
          <a:stretch/>
        </p:blipFill>
        <p:spPr>
          <a:xfrm>
            <a:off x="5206029" y="3005106"/>
            <a:ext cx="3697118" cy="1440119"/>
          </a:xfrm>
          <a:prstGeom prst="rect">
            <a:avLst/>
          </a:prstGeom>
          <a:noFill/>
          <a:ln cap="flat" cmpd="sng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90" name="Google Shape;90;p17"/>
          <p:cNvSpPr txBox="1"/>
          <p:nvPr/>
        </p:nvSpPr>
        <p:spPr>
          <a:xfrm>
            <a:off x="5881825" y="2640300"/>
            <a:ext cx="3225000" cy="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Encoding x inputs </a:t>
            </a:r>
            <a:r>
              <a:rPr i="1" lang="en" sz="1100">
                <a:solidFill>
                  <a:schemeClr val="dk1"/>
                </a:solidFill>
              </a:rPr>
              <a:t>x</a:t>
            </a:r>
            <a:r>
              <a:rPr lang="en" sz="1100">
                <a:solidFill>
                  <a:schemeClr val="dk1"/>
                </a:solidFill>
              </a:rPr>
              <a:t> into </a:t>
            </a:r>
            <a:r>
              <a:rPr lang="en" sz="1100">
                <a:solidFill>
                  <a:schemeClr val="dk1"/>
                </a:solidFill>
              </a:rPr>
              <a:t>|ϕ(x</a:t>
            </a:r>
            <a:r>
              <a:rPr baseline="-25000" lang="en" sz="1100">
                <a:solidFill>
                  <a:schemeClr val="dk1"/>
                </a:solidFill>
              </a:rPr>
              <a:t>j</a:t>
            </a:r>
            <a:r>
              <a:rPr lang="en" sz="1100">
                <a:solidFill>
                  <a:schemeClr val="dk1"/>
                </a:solidFill>
              </a:rPr>
              <a:t>)⟩, variational circuit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5206025" y="4445225"/>
            <a:ext cx="32919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Figure: Kernel-based training of quantum models with scikit-learn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https://pennylane.ai/qml/demos/tutorial_kernel_based_training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b="52132" l="0" r="0" t="0"/>
          <a:stretch/>
        </p:blipFill>
        <p:spPr>
          <a:xfrm>
            <a:off x="232050" y="2309481"/>
            <a:ext cx="8679900" cy="166149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Task: Classifying Semiconductor Defects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52475"/>
            <a:ext cx="8520600" cy="137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Defects during semiconductor wafer fabrication can reduce chip production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Automated systems use AI/ML to analyze wafers and identify faulty die patterns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QML methods show promise on small synthetic datasets, but performance on realistic industrial datasets remains unexplored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469050" y="4002250"/>
            <a:ext cx="84429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task is to classify semiconductor defects using classical SVM and QSVC, and benchmark </a:t>
            </a:r>
            <a:r>
              <a:rPr lang="en" sz="1800">
                <a:solidFill>
                  <a:schemeClr val="dk1"/>
                </a:solidFill>
              </a:rPr>
              <a:t>quantum</a:t>
            </a:r>
            <a:r>
              <a:rPr lang="en" sz="1800">
                <a:solidFill>
                  <a:schemeClr val="dk1"/>
                </a:solidFill>
              </a:rPr>
              <a:t> algorithm performance against classical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531550" y="4651150"/>
            <a:ext cx="50106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Figure: representative examples of defect patterns from MixedWM38 dataset, produced in Python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/>
          <p:nvPr/>
        </p:nvSpPr>
        <p:spPr>
          <a:xfrm rot="-5400000">
            <a:off x="6532013" y="1999963"/>
            <a:ext cx="899100" cy="2704500"/>
          </a:xfrm>
          <a:prstGeom prst="brace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9"/>
          <p:cNvSpPr/>
          <p:nvPr/>
        </p:nvSpPr>
        <p:spPr>
          <a:xfrm>
            <a:off x="5448350" y="878263"/>
            <a:ext cx="899100" cy="2704500"/>
          </a:xfrm>
          <a:prstGeom prst="brace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Dataset: MixedWM38 WaferMap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311700" y="1152475"/>
            <a:ext cx="4736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Classical and quantum machine learning models were trained on the MixedWM38 WaferMap dataset, a publicly available dataset of semiconductor wafer maps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dataset contains 38,000 wafer images represented as 52 × 52 grids, with each pixel value indicating whether the die is absent, functional, or defective.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Many wafers exhibit spatial patterns of failure which can take several characteristic forms, including: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(1) center defects, (2) donut, (3) edge-localized, (4) edge-ring, (5) localized, (6) nearly full wafer failure, (7) scratches, and (8) random.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Each wafer is labeled using an 8-dimensional Boolean vector indicating which defect patterns are present.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9" name="Google Shape;10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1600" y="810550"/>
            <a:ext cx="2839925" cy="283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9"/>
          <p:cNvSpPr txBox="1"/>
          <p:nvPr/>
        </p:nvSpPr>
        <p:spPr>
          <a:xfrm>
            <a:off x="6004463" y="3754875"/>
            <a:ext cx="19542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52 pixels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1" name="Google Shape;111;p19"/>
          <p:cNvSpPr txBox="1"/>
          <p:nvPr/>
        </p:nvSpPr>
        <p:spPr>
          <a:xfrm rot="-5400000">
            <a:off x="4327713" y="2152375"/>
            <a:ext cx="1954200" cy="1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52 pixels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6151625" y="4083275"/>
            <a:ext cx="16599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6AA84F"/>
                </a:solidFill>
              </a:rPr>
              <a:t>Green</a:t>
            </a:r>
            <a:r>
              <a:rPr lang="en" sz="1200">
                <a:solidFill>
                  <a:schemeClr val="dk2"/>
                </a:solidFill>
              </a:rPr>
              <a:t> = functional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BF9000"/>
                </a:solidFill>
              </a:rPr>
              <a:t>Yellow</a:t>
            </a:r>
            <a:r>
              <a:rPr lang="en" sz="1200">
                <a:solidFill>
                  <a:schemeClr val="dk2"/>
                </a:solidFill>
              </a:rPr>
              <a:t> = defective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Processing - Reducing Dimensions</a:t>
            </a:r>
            <a:endParaRPr/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E</a:t>
            </a:r>
            <a:r>
              <a:rPr lang="en" sz="1600">
                <a:solidFill>
                  <a:schemeClr val="dk1"/>
                </a:solidFill>
              </a:rPr>
              <a:t>ach wafer image contains 52 ×52 = 2,704 pixels, so directly encoding the raw data into a quantum circuit is not feasible with current quantum hardware or classical simulators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Principal Component Analysis (PCA) was used to reduce the feature dimensionality to </a:t>
            </a:r>
            <a:r>
              <a:rPr i="1" lang="en" sz="1600">
                <a:solidFill>
                  <a:schemeClr val="dk1"/>
                </a:solidFill>
              </a:rPr>
              <a:t>n</a:t>
            </a:r>
            <a:r>
              <a:rPr lang="en" sz="1600">
                <a:solidFill>
                  <a:schemeClr val="dk1"/>
                </a:solidFill>
              </a:rPr>
              <a:t> components, where </a:t>
            </a:r>
            <a:r>
              <a:rPr i="1" lang="en" sz="1600">
                <a:solidFill>
                  <a:schemeClr val="dk1"/>
                </a:solidFill>
              </a:rPr>
              <a:t>n</a:t>
            </a:r>
            <a:r>
              <a:rPr lang="en" sz="1600">
                <a:solidFill>
                  <a:schemeClr val="dk1"/>
                </a:solidFill>
              </a:rPr>
              <a:t> is swept from 1 to 30 for the classical SVM and from 2 to 11 for the QSVC, allowing the effect of circuit width on model performance to be studied systematically 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8046" l="0" r="0" t="36082"/>
          <a:stretch/>
        </p:blipFill>
        <p:spPr>
          <a:xfrm>
            <a:off x="1511213" y="2954775"/>
            <a:ext cx="6121574" cy="171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0"/>
          <p:cNvSpPr/>
          <p:nvPr/>
        </p:nvSpPr>
        <p:spPr>
          <a:xfrm>
            <a:off x="3501975" y="3744438"/>
            <a:ext cx="336000" cy="13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0"/>
          <p:cNvSpPr/>
          <p:nvPr/>
        </p:nvSpPr>
        <p:spPr>
          <a:xfrm>
            <a:off x="5225575" y="3744425"/>
            <a:ext cx="336000" cy="132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0"/>
          <p:cNvSpPr txBox="1"/>
          <p:nvPr/>
        </p:nvSpPr>
        <p:spPr>
          <a:xfrm>
            <a:off x="3458925" y="3525425"/>
            <a:ext cx="4221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PCA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5182525" y="3525425"/>
            <a:ext cx="422100" cy="2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</a:rPr>
              <a:t>PCA</a:t>
            </a:r>
            <a:endParaRPr sz="800">
              <a:solidFill>
                <a:srgbClr val="FF0000"/>
              </a:solidFill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531550" y="4651150"/>
            <a:ext cx="50106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Figure: GeeksForGeeks, Dimensionality Reduction Techniques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https://www.geeksforgeeks.org/data-science/dimensionality-reduction-techniques/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Processing - Subsampling</a:t>
            </a:r>
            <a:endParaRPr/>
          </a:p>
        </p:txBody>
      </p:sp>
      <p:sp>
        <p:nvSpPr>
          <p:cNvPr id="130" name="Google Shape;130;p21"/>
          <p:cNvSpPr txBox="1"/>
          <p:nvPr>
            <p:ph idx="1" type="body"/>
          </p:nvPr>
        </p:nvSpPr>
        <p:spPr>
          <a:xfrm>
            <a:off x="311700" y="1152475"/>
            <a:ext cx="4260300" cy="347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</a:t>
            </a:r>
            <a:r>
              <a:rPr lang="en">
                <a:solidFill>
                  <a:schemeClr val="dk1"/>
                </a:solidFill>
              </a:rPr>
              <a:t>raining the QSVC on the full dataset (38,000 images) is computationally intractable on classical simulators, so only a subsample was used to develop classical and quantum models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Stratified sampling ensures the subsample does not bias the ML models toward any particular defect pattern: the dataset is partitioned by combinations of defect labels, and 20% of samples are drawn uniformly at random from each partition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preserves the relative frequency of all eight defect types in both the subsample and the subsequent train/test split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31" name="Google Shape;131;p21"/>
          <p:cNvPicPr preferRelativeResize="0"/>
          <p:nvPr/>
        </p:nvPicPr>
        <p:blipFill rotWithShape="1">
          <a:blip r:embed="rId3">
            <a:alphaModFix/>
          </a:blip>
          <a:srcRect b="0" l="10354" r="0" t="0"/>
          <a:stretch/>
        </p:blipFill>
        <p:spPr>
          <a:xfrm>
            <a:off x="4658850" y="1228950"/>
            <a:ext cx="4387473" cy="26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1"/>
          <p:cNvSpPr txBox="1"/>
          <p:nvPr/>
        </p:nvSpPr>
        <p:spPr>
          <a:xfrm>
            <a:off x="428250" y="4830225"/>
            <a:ext cx="3440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Figure</a:t>
            </a:r>
            <a:r>
              <a:rPr lang="en" sz="800">
                <a:solidFill>
                  <a:schemeClr val="dk2"/>
                </a:solidFill>
              </a:rPr>
              <a:t> generated via ChatGPT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and Metrics</a:t>
            </a:r>
            <a:endParaRPr/>
          </a:p>
        </p:txBody>
      </p:sp>
      <p:sp>
        <p:nvSpPr>
          <p:cNvPr id="138" name="Google Shape;138;p22"/>
          <p:cNvSpPr txBox="1"/>
          <p:nvPr>
            <p:ph idx="1" type="body"/>
          </p:nvPr>
        </p:nvSpPr>
        <p:spPr>
          <a:xfrm>
            <a:off x="311700" y="1094192"/>
            <a:ext cx="8576100" cy="8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Two classifiers were trained: Classical SVC baseline and Quantum SVC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These were evaluated on based on the well-known </a:t>
            </a:r>
            <a:r>
              <a:rPr i="1" lang="en">
                <a:solidFill>
                  <a:schemeClr val="dk1"/>
                </a:solidFill>
              </a:rPr>
              <a:t>confusion matrix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139" name="Google Shape;139;p22"/>
          <p:cNvGraphicFramePr/>
          <p:nvPr/>
        </p:nvGraphicFramePr>
        <p:xfrm>
          <a:off x="3567950" y="1917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{983075AF-AE2C-468B-99A0-53C1319C9D43}</a:tableStyleId>
              </a:tblPr>
              <a:tblGrid>
                <a:gridCol w="2730700"/>
                <a:gridCol w="2730700"/>
              </a:tblGrid>
              <a:tr h="1346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Of all predictions made, how many were correctly classified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Recall: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Of all wafers that were truly defective, what fraction did the model correctly identify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346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Precision: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Of all wafers the model predicted as defective, what fraction were actually defective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F1 score: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Harmonic mean of precision and recall, balancing both metrics into a single score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140" name="Google Shape;14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6419" y="1917925"/>
            <a:ext cx="3029208" cy="247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2"/>
          <p:cNvSpPr txBox="1"/>
          <p:nvPr/>
        </p:nvSpPr>
        <p:spPr>
          <a:xfrm>
            <a:off x="862350" y="4352631"/>
            <a:ext cx="26607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Figure: Statistics by Jim, What is a Confusion Matrix?</a:t>
            </a:r>
            <a:endParaRPr sz="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https://statisticsbyjim.com/glossary/confusion-matrix/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142" name="Google Shape;1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22025" y="1954375"/>
            <a:ext cx="2570575" cy="3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24600" y="1954375"/>
            <a:ext cx="1491480" cy="39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22025" y="3284050"/>
            <a:ext cx="2031308" cy="42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24600" y="3284050"/>
            <a:ext cx="2336367" cy="39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2713" y="154912"/>
            <a:ext cx="6498575" cy="255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2725" y="2709975"/>
            <a:ext cx="6498577" cy="2333876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 txBox="1"/>
          <p:nvPr>
            <p:ph type="title"/>
          </p:nvPr>
        </p:nvSpPr>
        <p:spPr>
          <a:xfrm rot="-5400000">
            <a:off x="-221175" y="2285400"/>
            <a:ext cx="178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53" name="Google Shape;153;p23"/>
          <p:cNvSpPr txBox="1"/>
          <p:nvPr>
            <p:ph type="title"/>
          </p:nvPr>
        </p:nvSpPr>
        <p:spPr>
          <a:xfrm rot="5400000">
            <a:off x="7499750" y="2285400"/>
            <a:ext cx="178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cxnSp>
        <p:nvCxnSpPr>
          <p:cNvPr id="154" name="Google Shape;154;p23"/>
          <p:cNvCxnSpPr>
            <a:stCxn id="150" idx="0"/>
            <a:endCxn id="151" idx="2"/>
          </p:cNvCxnSpPr>
          <p:nvPr/>
        </p:nvCxnSpPr>
        <p:spPr>
          <a:xfrm>
            <a:off x="4572000" y="154912"/>
            <a:ext cx="0" cy="48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" name="Google Shape;155;p23"/>
          <p:cNvSpPr/>
          <p:nvPr/>
        </p:nvSpPr>
        <p:spPr>
          <a:xfrm>
            <a:off x="2258475" y="2462475"/>
            <a:ext cx="1194900" cy="2769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3"/>
          <p:cNvSpPr/>
          <p:nvPr/>
        </p:nvSpPr>
        <p:spPr>
          <a:xfrm>
            <a:off x="5864760" y="2440575"/>
            <a:ext cx="713700" cy="276900"/>
          </a:xfrm>
          <a:prstGeom prst="rect">
            <a:avLst/>
          </a:prstGeom>
          <a:noFill/>
          <a:ln cap="flat" cmpd="sng" w="952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62" name="Google Shape;162;p2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</a:rPr>
              <a:t>Classical SVM</a:t>
            </a:r>
            <a:endParaRPr u="sng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</a:t>
            </a:r>
            <a:r>
              <a:rPr lang="en">
                <a:solidFill>
                  <a:schemeClr val="dk1"/>
                </a:solidFill>
              </a:rPr>
              <a:t>ll scoring metrics are improved as the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number of PCA dimensions is increased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Improvements are very significant when increasing from 2 to 5 dims, leveling off around 10-15 dims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Total runtime roughly 2min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1"/>
                </a:solidFill>
              </a:rPr>
              <a:t>Quantum Kernel</a:t>
            </a:r>
            <a:endParaRPr u="sng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Scoring </a:t>
            </a:r>
            <a:r>
              <a:rPr lang="en">
                <a:solidFill>
                  <a:schemeClr val="dk1"/>
                </a:solidFill>
              </a:rPr>
              <a:t>Metrics do not necessarily improve with increasing </a:t>
            </a:r>
            <a:r>
              <a:rPr i="1" lang="en">
                <a:solidFill>
                  <a:schemeClr val="dk1"/>
                </a:solidFill>
              </a:rPr>
              <a:t>n</a:t>
            </a:r>
            <a:r>
              <a:rPr lang="en">
                <a:solidFill>
                  <a:schemeClr val="dk1"/>
                </a:solidFill>
              </a:rPr>
              <a:t> number of PCA dimensions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Indeed, some models actually </a:t>
            </a:r>
            <a:r>
              <a:rPr i="1" lang="en">
                <a:solidFill>
                  <a:schemeClr val="dk1"/>
                </a:solidFill>
              </a:rPr>
              <a:t>regress</a:t>
            </a:r>
            <a:r>
              <a:rPr lang="en">
                <a:solidFill>
                  <a:schemeClr val="dk1"/>
                </a:solidFill>
              </a:rPr>
              <a:t> in performance with higher PCA dimensions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Total </a:t>
            </a:r>
            <a:r>
              <a:rPr lang="en">
                <a:solidFill>
                  <a:schemeClr val="dk1"/>
                </a:solidFill>
              </a:rPr>
              <a:t>runtime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b="1" lang="en">
                <a:solidFill>
                  <a:schemeClr val="dk1"/>
                </a:solidFill>
              </a:rPr>
              <a:t>6 hours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and Future Directions</a:t>
            </a:r>
            <a:endParaRPr/>
          </a:p>
        </p:txBody>
      </p:sp>
      <p:sp>
        <p:nvSpPr>
          <p:cNvPr id="169" name="Google Shape;169;p25"/>
          <p:cNvSpPr txBox="1"/>
          <p:nvPr>
            <p:ph idx="1" type="body"/>
          </p:nvPr>
        </p:nvSpPr>
        <p:spPr>
          <a:xfrm>
            <a:off x="311700" y="1152475"/>
            <a:ext cx="8520600" cy="3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Classical SVM vs. QSVC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SVM improved monotonically with PCA dimensions, plateauing ~n = 15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QSVC metrics fluctuated irregularly with n, showing no consistent learning signal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Classical SVM outperformed QSVC across most defect types and PCA configurations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Near-Term QML Limitations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Classical statevector simulation makes the exponential Hilbert space a computational liability rather than an asset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 path to practical quantum advantage for classification tasks remains unclear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No conclusions about real quantum hardware performance can be drawn from these results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Future Work</a:t>
            </a:r>
            <a:endParaRPr b="1"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Execute models on real quantum hardware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Explore alternative feature maps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Investigate trainable quantum kernels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75" name="Google Shape;175;p26"/>
          <p:cNvSpPr txBox="1"/>
          <p:nvPr>
            <p:ph idx="1" type="body"/>
          </p:nvPr>
        </p:nvSpPr>
        <p:spPr>
          <a:xfrm>
            <a:off x="311700" y="1017725"/>
            <a:ext cx="8520600" cy="40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en" sz="1195">
                <a:solidFill>
                  <a:schemeClr val="dk1"/>
                </a:solidFill>
              </a:rPr>
              <a:t>[1] C. Conti, Quantum Machine Learning: Thinking and Exploration in Neural Network Models for Quantum Science and Quantum Computing (Springer International Publishing, 2023).</a:t>
            </a:r>
            <a:endParaRPr sz="11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853"/>
              <a:buNone/>
            </a:pPr>
            <a:r>
              <a:rPr lang="en" sz="1195">
                <a:solidFill>
                  <a:schemeClr val="dk1"/>
                </a:solidFill>
              </a:rPr>
              <a:t>[2] M. Kuhn and K. Johnson, Applied Predictive Modeling (Springer, 2013).</a:t>
            </a:r>
            <a:endParaRPr sz="11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853"/>
              <a:buNone/>
            </a:pPr>
            <a:r>
              <a:rPr lang="en" sz="1195">
                <a:solidFill>
                  <a:schemeClr val="dk1"/>
                </a:solidFill>
              </a:rPr>
              <a:t>[3] G. James, D. Witten, T. Hastie, and R. Tibshirani, An Introduction to Statistical Learning: with Applications in R, 2nd ed. (Springer, 2021).</a:t>
            </a:r>
            <a:endParaRPr sz="11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853"/>
              <a:buNone/>
            </a:pPr>
            <a:r>
              <a:rPr lang="en" sz="1195">
                <a:solidFill>
                  <a:schemeClr val="dk1"/>
                </a:solidFill>
              </a:rPr>
              <a:t>[4] Y. Kim, J.-S. Lee, and J.-H. Lee, IEEE Trans. Semicond. Manuf. 36, 476 (2023).</a:t>
            </a:r>
            <a:endParaRPr sz="11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853"/>
              <a:buNone/>
            </a:pPr>
            <a:r>
              <a:rPr lang="en" sz="1195">
                <a:solidFill>
                  <a:schemeClr val="dk1"/>
                </a:solidFill>
              </a:rPr>
              <a:t>[5] V. Havl´ıˇcek, A. D. C´orcoles, K. Temme, A. W. Harrow, A. Kandala, J. M. Chow, and J. M. Gambetta, Nature 567, 209 (2019).</a:t>
            </a:r>
            <a:endParaRPr sz="11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853"/>
              <a:buNone/>
            </a:pPr>
            <a:r>
              <a:rPr lang="en" sz="1195">
                <a:solidFill>
                  <a:schemeClr val="dk1"/>
                </a:solidFill>
              </a:rPr>
              <a:t>[6] J. Biamonte, P. Wittek, N. Pancotti, P. Rebentrost, N. Wiebe, and S. Lloyd, Nature 549, 195 (2017).</a:t>
            </a:r>
            <a:endParaRPr sz="11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853"/>
              <a:buNone/>
            </a:pPr>
            <a:r>
              <a:rPr lang="en" sz="1195">
                <a:solidFill>
                  <a:schemeClr val="dk1"/>
                </a:solidFill>
              </a:rPr>
              <a:t>[7] J. Wang, C. Xu, Z. Yang, J. Zhang, and X. Li, IEEE Trans. Semicond. Manuf. 33, 587 (2020).</a:t>
            </a:r>
            <a:endParaRPr sz="11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853"/>
              <a:buNone/>
            </a:pPr>
            <a:r>
              <a:rPr lang="en" sz="1195">
                <a:solidFill>
                  <a:schemeClr val="dk1"/>
                </a:solidFill>
              </a:rPr>
              <a:t>[8] Junliangwangdhu, WaferMap, GitHub repository, https://github.com/Junliangwangdhu/ WaferMap (2026), accessed: 16 March 2026.</a:t>
            </a:r>
            <a:endParaRPr sz="11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500"/>
              </a:spcBef>
              <a:spcAft>
                <a:spcPts val="0"/>
              </a:spcAft>
              <a:buSzPts val="853"/>
              <a:buNone/>
            </a:pPr>
            <a:r>
              <a:rPr lang="en" sz="1195">
                <a:solidFill>
                  <a:schemeClr val="dk1"/>
                </a:solidFill>
              </a:rPr>
              <a:t>[9] Qiskit Community, QSVC — Qiskit machine learning documentation, https://qiskit-community.github.io/qiskit-machine-learning/stubs/qiskit_machine_learning.algorithms.QSVC.html (2024).</a:t>
            </a:r>
            <a:endParaRPr sz="119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500"/>
              </a:spcBef>
              <a:spcAft>
                <a:spcPts val="500"/>
              </a:spcAft>
              <a:buSzPts val="853"/>
              <a:buNone/>
            </a:pPr>
            <a:r>
              <a:rPr lang="en" sz="1195">
                <a:solidFill>
                  <a:schemeClr val="dk1"/>
                </a:solidFill>
              </a:rPr>
              <a:t>[10] Qiskit Community, VQC — Qiskit machine learning documentation, https://qiskit-community.github.io/qiskit-machine-learning/stubs/qiskit_machine_learning.algorithms.VQC.html (2024).</a:t>
            </a:r>
            <a:endParaRPr sz="119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